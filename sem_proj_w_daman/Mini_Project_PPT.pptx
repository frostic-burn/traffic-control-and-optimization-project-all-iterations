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2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178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" y="21335"/>
            <a:ext cx="652272" cy="104851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" y="1274063"/>
            <a:ext cx="2673096" cy="26700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285232" y="0"/>
            <a:ext cx="3858895" cy="5145405"/>
          </a:xfrm>
          <a:custGeom>
            <a:avLst/>
            <a:gdLst/>
            <a:ahLst/>
            <a:cxnLst/>
            <a:rect l="l" t="t" r="r" b="b"/>
            <a:pathLst>
              <a:path w="3858895" h="5145405">
                <a:moveTo>
                  <a:pt x="3858387" y="0"/>
                </a:moveTo>
                <a:lnTo>
                  <a:pt x="3815461" y="0"/>
                </a:lnTo>
                <a:lnTo>
                  <a:pt x="0" y="4342371"/>
                </a:lnTo>
                <a:lnTo>
                  <a:pt x="2511297" y="4342384"/>
                </a:lnTo>
                <a:lnTo>
                  <a:pt x="2511297" y="5145023"/>
                </a:lnTo>
                <a:lnTo>
                  <a:pt x="2524633" y="5145023"/>
                </a:lnTo>
                <a:lnTo>
                  <a:pt x="3419728" y="4342384"/>
                </a:lnTo>
                <a:lnTo>
                  <a:pt x="3858387" y="4342384"/>
                </a:lnTo>
                <a:lnTo>
                  <a:pt x="3858387" y="0"/>
                </a:lnTo>
                <a:close/>
              </a:path>
            </a:pathLst>
          </a:custGeom>
          <a:solidFill>
            <a:srgbClr val="F0F0F0">
              <a:alpha val="1607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94103" y="1517903"/>
            <a:ext cx="5120640" cy="118567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360919" y="3928871"/>
            <a:ext cx="1774189" cy="1200785"/>
          </a:xfrm>
          <a:custGeom>
            <a:avLst/>
            <a:gdLst/>
            <a:ahLst/>
            <a:cxnLst/>
            <a:rect l="l" t="t" r="r" b="b"/>
            <a:pathLst>
              <a:path w="1774190" h="1200785">
                <a:moveTo>
                  <a:pt x="1773808" y="0"/>
                </a:moveTo>
                <a:lnTo>
                  <a:pt x="0" y="1200424"/>
                </a:lnTo>
                <a:lnTo>
                  <a:pt x="1773808" y="1200424"/>
                </a:lnTo>
                <a:lnTo>
                  <a:pt x="17738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13229" y="1501782"/>
            <a:ext cx="3977640" cy="1292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0" y="21335"/>
            <a:ext cx="652272" cy="10485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5961" y="146685"/>
            <a:ext cx="5946140" cy="1258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4465"/>
            <a:ext cx="822960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3773" y="2234"/>
            <a:ext cx="25012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6A6A6"/>
                </a:solidFill>
                <a:latin typeface="Calibri"/>
                <a:cs typeface="Calibri"/>
              </a:rPr>
              <a:t>Academic</a:t>
            </a:r>
            <a:r>
              <a:rPr sz="1800" b="1" spc="-6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A6A6A6"/>
                </a:solidFill>
                <a:latin typeface="Calibri"/>
                <a:cs typeface="Calibri"/>
              </a:rPr>
              <a:t>Session</a:t>
            </a:r>
            <a:r>
              <a:rPr sz="1800" b="1" spc="-7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A6A6A6"/>
                </a:solidFill>
                <a:latin typeface="Calibri"/>
                <a:cs typeface="Calibri"/>
              </a:rPr>
              <a:t>2025-</a:t>
            </a:r>
            <a:r>
              <a:rPr sz="1800" b="1" spc="-25" dirty="0">
                <a:solidFill>
                  <a:srgbClr val="A6A6A6"/>
                </a:solidFill>
                <a:latin typeface="Calibri"/>
                <a:cs typeface="Calibri"/>
              </a:rPr>
              <a:t>26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A532F-7B43-A937-226B-434A561E0A93}"/>
              </a:ext>
            </a:extLst>
          </p:cNvPr>
          <p:cNvSpPr txBox="1"/>
          <p:nvPr/>
        </p:nvSpPr>
        <p:spPr>
          <a:xfrm>
            <a:off x="152400" y="4135418"/>
            <a:ext cx="56216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ATINDERPAL SINGH (24BCS11940)</a:t>
            </a:r>
          </a:p>
          <a:p>
            <a:r>
              <a:rPr lang="en-IN" sz="1400" dirty="0"/>
              <a:t>SAHIBJOT SINGH (24BCS10364)</a:t>
            </a:r>
          </a:p>
          <a:p>
            <a:r>
              <a:rPr lang="en-IN" sz="1400" dirty="0"/>
              <a:t>RANBIR KHURANA (24BCS11076)</a:t>
            </a:r>
          </a:p>
          <a:p>
            <a:r>
              <a:rPr lang="en-IN" sz="1400" dirty="0"/>
              <a:t>VANSH KALRA (24BCS10369)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34ACB-4593-6174-965A-25FF03F4D56B}"/>
              </a:ext>
            </a:extLst>
          </p:cNvPr>
          <p:cNvSpPr/>
          <p:nvPr/>
        </p:nvSpPr>
        <p:spPr>
          <a:xfrm>
            <a:off x="1594290" y="2696809"/>
            <a:ext cx="6482910" cy="716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1708590" y="1584325"/>
            <a:ext cx="6254310" cy="2224968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spcBef>
                <a:spcPts val="550"/>
              </a:spcBef>
            </a:pPr>
            <a:r>
              <a:rPr lang="en-US" sz="4800" dirty="0">
                <a:solidFill>
                  <a:srgbClr val="CF251C"/>
                </a:solidFill>
              </a:rPr>
              <a:t>SMART TRAFFIC SIGNAL CONTROL SYSTEM</a:t>
            </a:r>
            <a:br>
              <a:rPr lang="en-IN" sz="4800" dirty="0">
                <a:solidFill>
                  <a:srgbClr val="CF251C"/>
                </a:solidFill>
              </a:rPr>
            </a:br>
            <a:endParaRPr sz="4400" dirty="0">
              <a:solidFill>
                <a:srgbClr val="CF251C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2133" y="110489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684" rIns="0" bIns="0" rtlCol="0">
            <a:spAutoFit/>
          </a:bodyPr>
          <a:lstStyle/>
          <a:p>
            <a:pPr marL="177292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02B67-9B40-C66D-E39D-345AF2B6F7B1}"/>
              </a:ext>
            </a:extLst>
          </p:cNvPr>
          <p:cNvSpPr txBox="1"/>
          <p:nvPr/>
        </p:nvSpPr>
        <p:spPr>
          <a:xfrm>
            <a:off x="533400" y="1584325"/>
            <a:ext cx="548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Smart Traffic Signal Control System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E2EBE7-A3CC-E9FF-3DBD-787F134CE01B}"/>
              </a:ext>
            </a:extLst>
          </p:cNvPr>
          <p:cNvSpPr txBox="1"/>
          <p:nvPr/>
        </p:nvSpPr>
        <p:spPr>
          <a:xfrm>
            <a:off x="550506" y="2415322"/>
            <a:ext cx="56216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</a:rPr>
              <a:t>A future-ready initiative that combines IoT sensors, AI-driven agents, and citizen-centric services to make cities more sustainable, efficient, and livable.</a:t>
            </a:r>
            <a:br>
              <a:rPr lang="en-US" b="0" i="0" dirty="0">
                <a:effectLst/>
              </a:rPr>
            </a:br>
            <a:r>
              <a:rPr lang="en-IN" b="1" i="0" dirty="0">
                <a:effectLst/>
              </a:rPr>
              <a:t>AI for Smarter &amp; Safer Cities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11D4F5-CFB2-45AB-91E8-EA46680EE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201" y="1404823"/>
            <a:ext cx="2065819" cy="2895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7000" marR="5080" indent="-98171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SOFTWARE/HARDWARE 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2133" y="110489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C9361A-0ADF-E100-B65C-570F0007E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7" t="27123" r="14167" b="14645"/>
          <a:stretch>
            <a:fillRect/>
          </a:stretch>
        </p:blipFill>
        <p:spPr bwMode="auto">
          <a:xfrm>
            <a:off x="157454" y="1279525"/>
            <a:ext cx="8961664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72" rIns="0" bIns="0" rtlCol="0">
            <a:spAutoFit/>
          </a:bodyPr>
          <a:lstStyle/>
          <a:p>
            <a:pPr marL="866775">
              <a:lnSpc>
                <a:spcPct val="100000"/>
              </a:lnSpc>
              <a:spcBef>
                <a:spcPts val="110"/>
              </a:spcBef>
            </a:pPr>
            <a:r>
              <a:rPr dirty="0"/>
              <a:t>PROBLEM</a:t>
            </a:r>
            <a:r>
              <a:rPr spc="-155" dirty="0"/>
              <a:t> </a:t>
            </a:r>
            <a:r>
              <a:rPr spc="-10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2133" y="110489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1FEDC-3385-DEDD-2030-E6021CD85EFF}"/>
              </a:ext>
            </a:extLst>
          </p:cNvPr>
          <p:cNvSpPr txBox="1"/>
          <p:nvPr/>
        </p:nvSpPr>
        <p:spPr>
          <a:xfrm>
            <a:off x="774801" y="225832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b="0" i="0" dirty="0">
                <a:solidFill>
                  <a:srgbClr val="553868"/>
                </a:solidFill>
                <a:effectLst/>
              </a:rPr>
              <a:t>Traffic Congestion</a:t>
            </a:r>
            <a:endParaRPr lang="en-IN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89EAE-E969-8402-6DB1-9A739C20C2C7}"/>
              </a:ext>
            </a:extLst>
          </p:cNvPr>
          <p:cNvSpPr txBox="1"/>
          <p:nvPr/>
        </p:nvSpPr>
        <p:spPr>
          <a:xfrm>
            <a:off x="774801" y="2599337"/>
            <a:ext cx="3581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400" b="0" i="0" dirty="0">
                <a:solidFill>
                  <a:srgbClr val="553868"/>
                </a:solidFill>
                <a:effectLst/>
              </a:rPr>
              <a:t>there are long queues and much higher emission are created due to the static signals.</a:t>
            </a:r>
            <a:endParaRPr lang="en-US" sz="1400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53BC9-F834-1FBD-E536-3CFB08A0298F}"/>
              </a:ext>
            </a:extLst>
          </p:cNvPr>
          <p:cNvSpPr txBox="1"/>
          <p:nvPr/>
        </p:nvSpPr>
        <p:spPr>
          <a:xfrm>
            <a:off x="718088" y="3641725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b="0" i="0" dirty="0">
                <a:solidFill>
                  <a:srgbClr val="553868"/>
                </a:solidFill>
                <a:effectLst/>
              </a:rPr>
              <a:t>Ambulance Prioritization</a:t>
            </a:r>
            <a:endParaRPr lang="en-IN" dirty="0"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88843-3821-8735-7B0D-A8B04356E9CB}"/>
              </a:ext>
            </a:extLst>
          </p:cNvPr>
          <p:cNvSpPr txBox="1"/>
          <p:nvPr/>
        </p:nvSpPr>
        <p:spPr>
          <a:xfrm>
            <a:off x="718088" y="3996737"/>
            <a:ext cx="4191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400" b="0" i="0" dirty="0">
                <a:solidFill>
                  <a:srgbClr val="553868"/>
                </a:solidFill>
                <a:effectLst/>
              </a:rPr>
              <a:t>Our system tries to prioritize and prefer clearing path for ambulance and other emergency vehicles.</a:t>
            </a:r>
            <a:endParaRPr lang="en-US" sz="140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097537-EAE6-3B44-A201-21EDA1D2B671}"/>
              </a:ext>
            </a:extLst>
          </p:cNvPr>
          <p:cNvSpPr txBox="1"/>
          <p:nvPr/>
        </p:nvSpPr>
        <p:spPr>
          <a:xfrm>
            <a:off x="5359501" y="2230005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b="0" i="0" dirty="0">
                <a:solidFill>
                  <a:srgbClr val="553868"/>
                </a:solidFill>
                <a:effectLst/>
              </a:rPr>
              <a:t>Crowd Density</a:t>
            </a:r>
            <a:endParaRPr lang="en-IN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50A3E8-3C2B-9325-C4DA-7F5A138D8DEE}"/>
              </a:ext>
            </a:extLst>
          </p:cNvPr>
          <p:cNvSpPr txBox="1"/>
          <p:nvPr/>
        </p:nvSpPr>
        <p:spPr>
          <a:xfrm>
            <a:off x="5359501" y="2564412"/>
            <a:ext cx="3505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sz="1400" b="0" i="0" dirty="0">
                <a:solidFill>
                  <a:srgbClr val="553868"/>
                </a:solidFill>
                <a:effectLst/>
              </a:rPr>
              <a:t>improves road and traffic safety by using camera input and managing traffic signals using ML</a:t>
            </a:r>
            <a:endParaRPr lang="en-US" sz="1400" dirty="0">
              <a:effectLst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3666D26-FEBF-2981-B357-7D164EDA6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77" y="2279366"/>
            <a:ext cx="422624" cy="42614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C23DAD-89FA-6BD3-8328-EEBD818C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08" y="2193925"/>
            <a:ext cx="423943" cy="4239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2A63D8-0A0E-8F09-898A-125499CE7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672084"/>
            <a:ext cx="337088" cy="32164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0B35F26-9CE5-0694-4EDF-28F048D861B1}"/>
              </a:ext>
            </a:extLst>
          </p:cNvPr>
          <p:cNvSpPr txBox="1"/>
          <p:nvPr/>
        </p:nvSpPr>
        <p:spPr>
          <a:xfrm>
            <a:off x="317601" y="1309275"/>
            <a:ext cx="807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design a system that uses camera input to monitor traffic and adjust signal timing. This reduces wait time at junctions and improves road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137" rIns="0" bIns="0" rtlCol="0">
            <a:spAutoFit/>
          </a:bodyPr>
          <a:lstStyle/>
          <a:p>
            <a:pPr marL="959485">
              <a:lnSpc>
                <a:spcPct val="100000"/>
              </a:lnSpc>
              <a:spcBef>
                <a:spcPts val="110"/>
              </a:spcBef>
            </a:pPr>
            <a:r>
              <a:rPr dirty="0"/>
              <a:t>PRELIMINARY</a:t>
            </a:r>
            <a:r>
              <a:rPr spc="-80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4A4D65-4470-DC56-8D16-D877C1827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54" b="15385"/>
          <a:stretch>
            <a:fillRect/>
          </a:stretch>
        </p:blipFill>
        <p:spPr bwMode="auto">
          <a:xfrm>
            <a:off x="76200" y="1404823"/>
            <a:ext cx="9144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1B461694-071F-12B9-5E2E-4AE18035F10E}"/>
              </a:ext>
            </a:extLst>
          </p:cNvPr>
          <p:cNvSpPr txBox="1"/>
          <p:nvPr/>
        </p:nvSpPr>
        <p:spPr>
          <a:xfrm>
            <a:off x="8686800" y="110489"/>
            <a:ext cx="123825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400" spc="-50" dirty="0">
                <a:latin typeface="Arial MT"/>
                <a:cs typeface="Arial MT"/>
              </a:rPr>
              <a:t>4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2628EE-6F6B-FBCE-8B32-34073EBE6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788" y="2041525"/>
            <a:ext cx="4544612" cy="25908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12725"/>
            <a:ext cx="594614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6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FD46E-05E8-0C3F-B1BD-78EACEE2D199}"/>
              </a:ext>
            </a:extLst>
          </p:cNvPr>
          <p:cNvSpPr txBox="1"/>
          <p:nvPr/>
        </p:nvSpPr>
        <p:spPr>
          <a:xfrm>
            <a:off x="381000" y="1355725"/>
            <a:ext cx="34616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effectLst/>
              </a:rPr>
              <a:t>Real-time surveillance platform that analyzes live video feeds from cameras and online streams to monitor urban activity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effectLst/>
              </a:rPr>
              <a:t>Tracks vehicle movement patterns, pedestrian density, and traffic congestion levels across different locations and time periods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effectLst/>
              </a:rPr>
              <a:t>Enables city planners and traffic authorities to make data-driven decisions for infrastructure optimization and public safety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b="0" i="0" dirty="0">
                <a:effectLst/>
              </a:rPr>
              <a:t>Supports emergency response planning by providing real-time insights into road congestion and pedestrian flow patterns</a:t>
            </a:r>
            <a:endParaRPr lang="en-US" sz="140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863867E-9DF2-EAF0-D587-1B569090F1E6}"/>
              </a:ext>
            </a:extLst>
          </p:cNvPr>
          <p:cNvSpPr txBox="1"/>
          <p:nvPr/>
        </p:nvSpPr>
        <p:spPr>
          <a:xfrm>
            <a:off x="8692133" y="110489"/>
            <a:ext cx="123825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400" spc="-50" dirty="0">
                <a:latin typeface="Arial MT"/>
                <a:cs typeface="Arial MT"/>
              </a:rPr>
              <a:t>5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9EC7AA-F33E-8C48-998E-AFD30D18D5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5" t="12965" r="14999" b="17444"/>
          <a:stretch>
            <a:fillRect/>
          </a:stretch>
        </p:blipFill>
        <p:spPr>
          <a:xfrm>
            <a:off x="6705600" y="1036493"/>
            <a:ext cx="2133600" cy="1233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898525"/>
            <a:ext cx="7220584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600" dirty="0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sz="9600" spc="-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600" spc="-25" dirty="0">
                <a:solidFill>
                  <a:srgbClr val="000000"/>
                </a:solidFill>
                <a:latin typeface="Arial"/>
                <a:cs typeface="Arial"/>
              </a:rPr>
              <a:t>YOU</a:t>
            </a:r>
            <a:endParaRPr sz="9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92133" y="110489"/>
            <a:ext cx="214629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Arial MT"/>
                <a:cs typeface="Arial MT"/>
              </a:rPr>
              <a:t>10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412F5-B2AC-3BE7-7FC0-B6F756BDB017}"/>
              </a:ext>
            </a:extLst>
          </p:cNvPr>
          <p:cNvSpPr txBox="1"/>
          <p:nvPr/>
        </p:nvSpPr>
        <p:spPr>
          <a:xfrm>
            <a:off x="1143000" y="2161451"/>
            <a:ext cx="6477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</a:rPr>
              <a:t>This project is not just a normal project, it is a step towards sustainable urban living, where technology ensures safety, efficiency, and a better quality of life.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263</Words>
  <Application>Microsoft Office PowerPoint</Application>
  <PresentationFormat>Custom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Calibri</vt:lpstr>
      <vt:lpstr>Office Theme</vt:lpstr>
      <vt:lpstr>SMART TRAFFIC SIGNAL CONTROL SYSTEM </vt:lpstr>
      <vt:lpstr>INTRODUCTION</vt:lpstr>
      <vt:lpstr>SOFTWARE/HARDWARE REQUIREMENT</vt:lpstr>
      <vt:lpstr>PROBLEM STATEMENTS</vt:lpstr>
      <vt:lpstr>PRELIMINARY DESIGN</vt:lpstr>
      <vt:lpstr>PROJECT IMPLEMENTATION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Ranbir Khurana</cp:lastModifiedBy>
  <cp:revision>3</cp:revision>
  <dcterms:created xsi:type="dcterms:W3CDTF">2026-01-29T18:45:01Z</dcterms:created>
  <dcterms:modified xsi:type="dcterms:W3CDTF">2026-04-20T18:14:28Z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2026-01-29T00:00:00Z</vt:filetime>
  </property>
  <property fmtid="{D5CDD505-2E9C-101B-9397-08002B2CF9AE}" pid="5" name="Producer">
    <vt:lpwstr>www.ilovepdf.com</vt:lpwstr>
  </property>
</Properties>
</file>